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32918400" cy="21945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326532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653064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979596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306128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1632661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1959193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2285725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2612257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08" autoAdjust="0"/>
    <p:restoredTop sz="95521" autoAdjust="0"/>
  </p:normalViewPr>
  <p:slideViewPr>
    <p:cSldViewPr snapToGrid="0" snapToObjects="1">
      <p:cViewPr varScale="1">
        <p:scale>
          <a:sx n="33" d="100"/>
          <a:sy n="33" d="100"/>
        </p:scale>
        <p:origin x="1998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" name="Shape 2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633155" latinLnBrk="0">
      <a:defRPr sz="3400">
        <a:latin typeface="+mn-lt"/>
        <a:ea typeface="+mn-ea"/>
        <a:cs typeface="+mn-cs"/>
        <a:sym typeface="Calibri"/>
      </a:defRPr>
    </a:lvl1pPr>
    <a:lvl2pPr indent="228600" defTabSz="2633155" latinLnBrk="0">
      <a:defRPr sz="3400">
        <a:latin typeface="+mn-lt"/>
        <a:ea typeface="+mn-ea"/>
        <a:cs typeface="+mn-cs"/>
        <a:sym typeface="Calibri"/>
      </a:defRPr>
    </a:lvl2pPr>
    <a:lvl3pPr indent="457200" defTabSz="2633155" latinLnBrk="0">
      <a:defRPr sz="3400">
        <a:latin typeface="+mn-lt"/>
        <a:ea typeface="+mn-ea"/>
        <a:cs typeface="+mn-cs"/>
        <a:sym typeface="Calibri"/>
      </a:defRPr>
    </a:lvl3pPr>
    <a:lvl4pPr indent="685800" defTabSz="2633155" latinLnBrk="0">
      <a:defRPr sz="3400">
        <a:latin typeface="+mn-lt"/>
        <a:ea typeface="+mn-ea"/>
        <a:cs typeface="+mn-cs"/>
        <a:sym typeface="Calibri"/>
      </a:defRPr>
    </a:lvl4pPr>
    <a:lvl5pPr indent="914400" defTabSz="2633155" latinLnBrk="0">
      <a:defRPr sz="3400">
        <a:latin typeface="+mn-lt"/>
        <a:ea typeface="+mn-ea"/>
        <a:cs typeface="+mn-cs"/>
        <a:sym typeface="Calibri"/>
      </a:defRPr>
    </a:lvl5pPr>
    <a:lvl6pPr indent="1143000" defTabSz="2633155" latinLnBrk="0">
      <a:defRPr sz="3400">
        <a:latin typeface="+mn-lt"/>
        <a:ea typeface="+mn-ea"/>
        <a:cs typeface="+mn-cs"/>
        <a:sym typeface="Calibri"/>
      </a:defRPr>
    </a:lvl6pPr>
    <a:lvl7pPr indent="1371600" defTabSz="2633155" latinLnBrk="0">
      <a:defRPr sz="3400">
        <a:latin typeface="+mn-lt"/>
        <a:ea typeface="+mn-ea"/>
        <a:cs typeface="+mn-cs"/>
        <a:sym typeface="Calibri"/>
      </a:defRPr>
    </a:lvl7pPr>
    <a:lvl8pPr indent="1600200" defTabSz="2633155" latinLnBrk="0">
      <a:defRPr sz="3400">
        <a:latin typeface="+mn-lt"/>
        <a:ea typeface="+mn-ea"/>
        <a:cs typeface="+mn-cs"/>
        <a:sym typeface="Calibri"/>
      </a:defRPr>
    </a:lvl8pPr>
    <a:lvl9pPr indent="1828800" defTabSz="2633155" latinLnBrk="0">
      <a:defRPr sz="34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7250" y="685800"/>
            <a:ext cx="51435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73334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7250" y="685800"/>
            <a:ext cx="51435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27556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B 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B AI Research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645920" y="294640"/>
            <a:ext cx="29626561" cy="482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645920" y="5120640"/>
            <a:ext cx="29626561" cy="16824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5910559" y="19756119"/>
            <a:ext cx="7680961" cy="1168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/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731556" marR="0" indent="-731556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2319804" marR="0" indent="-856691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3943547" marR="0" indent="-1017321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5531594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6994707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8457820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9920933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11384047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12847160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326532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653064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979596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306128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1632661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1959193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2285725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2612257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ajaz.bhat@ubd.edu.bn" TargetMode="External"/><Relationship Id="rId5" Type="http://schemas.openxmlformats.org/officeDocument/2006/relationships/hyperlink" Target="mailto:23h1710@ubd.edu.bn" TargetMode="Externa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35"/>
          <p:cNvSpPr txBox="1"/>
          <p:nvPr/>
        </p:nvSpPr>
        <p:spPr>
          <a:xfrm>
            <a:off x="3286110" y="2230834"/>
            <a:ext cx="26346180" cy="2554545"/>
          </a:xfrm>
          <a:prstGeom prst="rect">
            <a:avLst/>
          </a:prstGeom>
          <a:noFill/>
          <a:ln w="12700">
            <a:noFill/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5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sz="8000" dirty="0"/>
              <a:t>Evaluating Cumulative Spectral Gradient as a Complexity Measure</a:t>
            </a:r>
          </a:p>
        </p:txBody>
      </p:sp>
      <p:pic>
        <p:nvPicPr>
          <p:cNvPr id="1028" name="Picture 4" descr="UBD Logo - Universiti Brunei Darussalam">
            <a:extLst>
              <a:ext uri="{FF2B5EF4-FFF2-40B4-BE49-F238E27FC236}">
                <a16:creationId xmlns:a16="http://schemas.microsoft.com/office/drawing/2014/main" id="{DD572501-D15D-75A2-9A73-C587935F11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2413" y="10950424"/>
            <a:ext cx="4674519" cy="45278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" name="Picture 2" descr="A logo of a person's head&#10;&#10;Description automatically generated">
            <a:extLst>
              <a:ext uri="{FF2B5EF4-FFF2-40B4-BE49-F238E27FC236}">
                <a16:creationId xmlns:a16="http://schemas.microsoft.com/office/drawing/2014/main" id="{B434EB49-3235-7219-ACFA-7D89678977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7248" y="17698065"/>
            <a:ext cx="5300396" cy="331274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TextBox 35">
            <a:extLst>
              <a:ext uri="{FF2B5EF4-FFF2-40B4-BE49-F238E27FC236}">
                <a16:creationId xmlns:a16="http://schemas.microsoft.com/office/drawing/2014/main" id="{53329B79-3DBB-0C9B-3EA4-D6067075D2D9}"/>
              </a:ext>
            </a:extLst>
          </p:cNvPr>
          <p:cNvSpPr txBox="1"/>
          <p:nvPr/>
        </p:nvSpPr>
        <p:spPr>
          <a:xfrm>
            <a:off x="3841594" y="5590198"/>
            <a:ext cx="26016156" cy="3262432"/>
          </a:xfrm>
          <a:prstGeom prst="rect">
            <a:avLst/>
          </a:prstGeom>
          <a:noFill/>
          <a:ln w="12700">
            <a:noFill/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5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4400" b="1" dirty="0"/>
              <a:t>Haji Gul (</a:t>
            </a:r>
            <a:r>
              <a:rPr lang="en-US" sz="4400" b="1" dirty="0">
                <a:hlinkClick r:id="rId5"/>
              </a:rPr>
              <a:t>23h1710@ubd.edu.bn</a:t>
            </a:r>
            <a:r>
              <a:rPr lang="en-US" sz="4400" b="1" dirty="0"/>
              <a:t>), Abdul Ghani Naim, </a:t>
            </a:r>
            <a:r>
              <a:rPr lang="en-US" sz="4400" b="1" dirty="0" err="1"/>
              <a:t>Ajaz</a:t>
            </a:r>
            <a:r>
              <a:rPr lang="en-US" sz="4400" b="1" dirty="0"/>
              <a:t> Ahmad Bhat (</a:t>
            </a:r>
            <a:r>
              <a:rPr lang="en-US" sz="4400" b="1" dirty="0">
                <a:hlinkClick r:id="rId6"/>
              </a:rPr>
              <a:t>ajaz.bhat@ubd.edu.bn</a:t>
            </a:r>
            <a:r>
              <a:rPr lang="en-US" sz="4400" b="1" dirty="0"/>
              <a:t>)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4400" dirty="0"/>
              <a:t>School of Digital Science, </a:t>
            </a:r>
            <a:r>
              <a:rPr lang="en-US" sz="4400" dirty="0" err="1"/>
              <a:t>Universiti</a:t>
            </a:r>
            <a:r>
              <a:rPr lang="en-US" sz="4400" dirty="0"/>
              <a:t> Brunei Darussalam, Brunei Darussalam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endParaRPr lang="en-US" sz="4400" dirty="0"/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4400" i="1" dirty="0">
                <a:solidFill>
                  <a:srgbClr val="2021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 work has been accepted to the 4th Muslims in ML Workshop Co-located with ICML 2025</a:t>
            </a:r>
            <a:r>
              <a:rPr lang="en-US" sz="4400" i="0" dirty="0">
                <a:solidFill>
                  <a:srgbClr val="202124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5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39">
            <a:extLst>
              <a:ext uri="{FF2B5EF4-FFF2-40B4-BE49-F238E27FC236}">
                <a16:creationId xmlns:a16="http://schemas.microsoft.com/office/drawing/2014/main" id="{659066BD-0F48-FD68-A73E-CEC2B1515CD5}"/>
              </a:ext>
            </a:extLst>
          </p:cNvPr>
          <p:cNvSpPr txBox="1"/>
          <p:nvPr/>
        </p:nvSpPr>
        <p:spPr>
          <a:xfrm>
            <a:off x="324465" y="434253"/>
            <a:ext cx="32210477" cy="21157386"/>
          </a:xfrm>
          <a:prstGeom prst="rect">
            <a:avLst/>
          </a:prstGeom>
          <a:ln w="12700">
            <a:solidFill>
              <a:schemeClr val="accent4">
                <a:lumMod val="60000"/>
                <a:lumOff val="40000"/>
              </a:schemeClr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120000"/>
              </a:lnSpc>
              <a:defRPr sz="21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42900" indent="-342900" algn="just">
              <a:buFont typeface="Wingdings" panose="05000000000000000000" pitchFamily="2" charset="2"/>
              <a:buChar char="v"/>
            </a:pPr>
            <a:endParaRPr lang="en-SG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F496769D-54A5-2CAA-7393-15278DFA9FCA}"/>
              </a:ext>
            </a:extLst>
          </p:cNvPr>
          <p:cNvSpPr txBox="1"/>
          <p:nvPr/>
        </p:nvSpPr>
        <p:spPr>
          <a:xfrm>
            <a:off x="11163858" y="1861990"/>
            <a:ext cx="10555625" cy="10618289"/>
          </a:xfrm>
          <a:prstGeom prst="rect">
            <a:avLst/>
          </a:prstGeom>
          <a:noFill/>
          <a:ln w="12700" cap="flat">
            <a:solidFill>
              <a:schemeClr val="accent4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SG" sz="2800" b="1" i="1" dirty="0">
                <a:solidFill>
                  <a:schemeClr val="tx1"/>
                </a:solidFill>
                <a:latin typeface="Arial"/>
                <a:cs typeface="Arial"/>
              </a:rPr>
              <a:t>Step 5) Cumulative</a:t>
            </a:r>
            <a:r>
              <a:rPr lang="en-SG" sz="1400" b="1" i="1" dirty="0">
                <a:solidFill>
                  <a:schemeClr val="tx1"/>
                </a:solidFill>
              </a:rPr>
              <a:t> </a:t>
            </a:r>
            <a:r>
              <a:rPr lang="en-SG" sz="2800" b="1" i="1" dirty="0">
                <a:solidFill>
                  <a:schemeClr val="tx1"/>
                </a:solidFill>
                <a:latin typeface="Arial"/>
                <a:cs typeface="Arial"/>
                <a:sym typeface="Arial"/>
              </a:rPr>
              <a:t>Spectral</a:t>
            </a:r>
            <a:r>
              <a:rPr lang="en-SG" sz="1400" b="1" i="1" dirty="0">
                <a:solidFill>
                  <a:schemeClr val="tx1"/>
                </a:solidFill>
              </a:rPr>
              <a:t> </a:t>
            </a:r>
            <a:r>
              <a:rPr lang="en-SG" sz="2800" b="1" i="1" dirty="0">
                <a:solidFill>
                  <a:schemeClr val="tx1"/>
                </a:solidFill>
                <a:latin typeface="Arial"/>
                <a:cs typeface="Arial"/>
              </a:rPr>
              <a:t>Gradient</a:t>
            </a:r>
            <a:r>
              <a:rPr lang="en-SG" sz="1400" b="1" i="1" dirty="0">
                <a:solidFill>
                  <a:schemeClr val="tx1"/>
                </a:solidFill>
              </a:rPr>
              <a:t> </a:t>
            </a:r>
            <a:r>
              <a:rPr lang="en-SG" sz="2800" b="1" i="1" dirty="0">
                <a:solidFill>
                  <a:schemeClr val="tx1"/>
                </a:solidFill>
              </a:rPr>
              <a:t>: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SG" sz="2800" b="1" i="1" dirty="0">
              <a:solidFill>
                <a:schemeClr val="tx1"/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SG" sz="2800" b="1" i="1" dirty="0">
              <a:solidFill>
                <a:schemeClr val="tx1"/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SG" sz="2800" b="1" i="1" dirty="0">
              <a:solidFill>
                <a:schemeClr val="tx1"/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SG" sz="2800" b="1" i="1" dirty="0">
              <a:solidFill>
                <a:schemeClr val="tx1"/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SG" sz="2800" b="1" i="1" dirty="0">
              <a:solidFill>
                <a:schemeClr val="tx1"/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SG" sz="2800" b="1" i="1" dirty="0">
              <a:solidFill>
                <a:schemeClr val="tx1"/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SG" sz="2800" b="1" i="1" dirty="0">
              <a:solidFill>
                <a:schemeClr val="tx1"/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SG" sz="2800" b="1" i="1" dirty="0">
              <a:solidFill>
                <a:schemeClr val="tx1"/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SG" sz="2800" b="1" i="1" dirty="0">
              <a:solidFill>
                <a:schemeClr val="tx1"/>
              </a:solidFill>
            </a:endParaRPr>
          </a:p>
          <a:p>
            <a:pPr algn="just"/>
            <a:endParaRPr lang="en-SG" sz="2800" b="1" i="1" dirty="0">
              <a:solidFill>
                <a:schemeClr val="tx1"/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SG" sz="2800" b="1" i="1" dirty="0">
                <a:solidFill>
                  <a:schemeClr val="tx1"/>
                </a:solidFill>
              </a:rPr>
              <a:t>Methodology Graphical View: 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SG" sz="2800" b="1" i="1" dirty="0">
              <a:solidFill>
                <a:schemeClr val="tx1"/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SG" sz="2800" b="1" i="1" dirty="0">
              <a:solidFill>
                <a:schemeClr val="tx1"/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SG" sz="2800" b="1" i="1" dirty="0">
              <a:solidFill>
                <a:schemeClr val="tx1"/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SG" sz="2800" b="1" i="1" dirty="0">
              <a:solidFill>
                <a:schemeClr val="tx1"/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SG" sz="2800" b="1" i="1" dirty="0">
              <a:solidFill>
                <a:schemeClr val="tx1"/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SG" sz="2800" b="1" i="1" dirty="0">
              <a:solidFill>
                <a:schemeClr val="tx1"/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SG" sz="2800" b="1" i="1" dirty="0">
              <a:solidFill>
                <a:schemeClr val="tx1"/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SG" sz="2800" b="1" i="1" dirty="0">
              <a:solidFill>
                <a:schemeClr val="tx1"/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SG" sz="2800" b="1" i="1" dirty="0">
              <a:solidFill>
                <a:schemeClr val="tx1"/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SG" sz="2800" b="1" i="1" dirty="0">
              <a:solidFill>
                <a:schemeClr val="tx1"/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SG" sz="2800" b="1" i="1" dirty="0">
              <a:solidFill>
                <a:schemeClr val="tx1"/>
              </a:solidFill>
            </a:endParaRP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SG" sz="2800" b="1" i="1" dirty="0">
              <a:solidFill>
                <a:schemeClr val="tx1"/>
              </a:solidFill>
            </a:endParaRPr>
          </a:p>
          <a:p>
            <a:pPr marL="0" marR="0" indent="0" algn="l" defTabSz="326532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SG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34" name="TextBox 39"/>
          <p:cNvSpPr txBox="1"/>
          <p:nvPr/>
        </p:nvSpPr>
        <p:spPr>
          <a:xfrm>
            <a:off x="294968" y="2642092"/>
            <a:ext cx="10555625" cy="3671005"/>
          </a:xfrm>
          <a:prstGeom prst="rect">
            <a:avLst/>
          </a:prstGeom>
          <a:ln w="12700">
            <a:solidFill>
              <a:schemeClr val="accent4">
                <a:lumMod val="60000"/>
                <a:lumOff val="40000"/>
              </a:schemeClr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120000"/>
              </a:lnSpc>
              <a:defRPr sz="21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tx1"/>
                </a:solidFill>
              </a:rPr>
              <a:t>This study evaluates the complexity of the tail prediction task in knowledge graphs.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tx1"/>
                </a:solidFill>
              </a:rPr>
              <a:t>Challenge: Metrics like MRR measure performance but not dataset complexity.</a:t>
            </a:r>
            <a:endParaRPr lang="en-SG" sz="2400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800" b="1" i="1" dirty="0">
                <a:solidFill>
                  <a:schemeClr val="tx1"/>
                </a:solidFill>
              </a:rPr>
              <a:t>Research Questions: 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tx1"/>
                </a:solidFill>
              </a:rPr>
              <a:t>Is CSG sensitive to parameters K (neighbors) and M (samples)?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tx1"/>
                </a:solidFill>
              </a:rPr>
              <a:t>Does CSG correlate with MRR in KGs?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tx1"/>
                </a:solidFill>
              </a:rPr>
              <a:t>How do K and M (sample size) influence CSGs’ complexity estimation? </a:t>
            </a:r>
          </a:p>
        </p:txBody>
      </p:sp>
      <p:sp>
        <p:nvSpPr>
          <p:cNvPr id="56" name="TextBox 43"/>
          <p:cNvSpPr txBox="1"/>
          <p:nvPr/>
        </p:nvSpPr>
        <p:spPr>
          <a:xfrm>
            <a:off x="294968" y="1861990"/>
            <a:ext cx="10555625" cy="61555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b="1" dirty="0"/>
              <a:t>Introduction</a:t>
            </a:r>
            <a:endParaRPr b="1" dirty="0"/>
          </a:p>
        </p:txBody>
      </p:sp>
      <p:sp>
        <p:nvSpPr>
          <p:cNvPr id="57" name="TextBox 43"/>
          <p:cNvSpPr txBox="1"/>
          <p:nvPr/>
        </p:nvSpPr>
        <p:spPr>
          <a:xfrm>
            <a:off x="294968" y="6477646"/>
            <a:ext cx="10555626" cy="61555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b="1" dirty="0"/>
              <a:t>Methodology</a:t>
            </a:r>
            <a:endParaRPr b="1" dirty="0"/>
          </a:p>
        </p:txBody>
      </p:sp>
      <p:sp>
        <p:nvSpPr>
          <p:cNvPr id="32" name="TextBox 39">
            <a:extLst>
              <a:ext uri="{FF2B5EF4-FFF2-40B4-BE49-F238E27FC236}">
                <a16:creationId xmlns:a16="http://schemas.microsoft.com/office/drawing/2014/main" id="{D3766D0A-D200-7119-D130-2060F5D5EA02}"/>
              </a:ext>
            </a:extLst>
          </p:cNvPr>
          <p:cNvSpPr txBox="1"/>
          <p:nvPr/>
        </p:nvSpPr>
        <p:spPr>
          <a:xfrm>
            <a:off x="21985835" y="16864072"/>
            <a:ext cx="10578603" cy="3570208"/>
          </a:xfrm>
          <a:prstGeom prst="rect">
            <a:avLst/>
          </a:prstGeom>
          <a:ln w="12700">
            <a:solidFill>
              <a:schemeClr val="accent4">
                <a:lumMod val="60000"/>
                <a:lumOff val="40000"/>
              </a:schemeClr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120000"/>
              </a:lnSpc>
              <a:defRPr sz="21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914400" lvl="1" indent="-4572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8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CSG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significantly influenced by the </a:t>
            </a:r>
            <a:r>
              <a:rPr lang="en-US" sz="28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8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challenging previous assumptions that K and M had minimal impact</a:t>
            </a:r>
          </a:p>
          <a:p>
            <a:pPr marL="914400" lvl="1" indent="-4572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8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Parameters K and M deeply influence results.</a:t>
            </a:r>
          </a:p>
          <a:p>
            <a:pPr marL="914400" lvl="1" indent="-4572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Poor </a:t>
            </a:r>
            <a:r>
              <a:rPr lang="en-US" sz="28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relation between </a:t>
            </a:r>
            <a:r>
              <a:rPr lang="en-US" sz="2800" b="1" i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CSG</a:t>
            </a:r>
            <a:r>
              <a:rPr lang="en-US" sz="28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 performance (</a:t>
            </a:r>
            <a:r>
              <a:rPr lang="en-US" sz="2800" b="1" i="1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MRR</a:t>
            </a:r>
            <a:r>
              <a:rPr lang="en-US" sz="28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914400" lvl="1" indent="-4572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work focus on developing complexity measures tailored to the characteristics of knowledge graphs.</a:t>
            </a:r>
          </a:p>
          <a:p>
            <a:pPr marL="914400" lvl="1" indent="-4572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v"/>
            </a:pPr>
            <a:endParaRPr lang="en-SG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43">
            <a:extLst>
              <a:ext uri="{FF2B5EF4-FFF2-40B4-BE49-F238E27FC236}">
                <a16:creationId xmlns:a16="http://schemas.microsoft.com/office/drawing/2014/main" id="{9E4E466C-5870-806C-CACC-AF40CCBA3581}"/>
              </a:ext>
            </a:extLst>
          </p:cNvPr>
          <p:cNvSpPr txBox="1"/>
          <p:nvPr/>
        </p:nvSpPr>
        <p:spPr>
          <a:xfrm>
            <a:off x="21896152" y="16015627"/>
            <a:ext cx="10656211" cy="61555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b="1" dirty="0"/>
              <a:t>Conclusion</a:t>
            </a:r>
            <a:endParaRPr b="1" dirty="0"/>
          </a:p>
        </p:txBody>
      </p:sp>
      <p:sp>
        <p:nvSpPr>
          <p:cNvPr id="4" name="TextBox 39">
            <a:extLst>
              <a:ext uri="{FF2B5EF4-FFF2-40B4-BE49-F238E27FC236}">
                <a16:creationId xmlns:a16="http://schemas.microsoft.com/office/drawing/2014/main" id="{3622B5BD-890A-E2ED-E0AF-12CAFE1B60B2}"/>
              </a:ext>
            </a:extLst>
          </p:cNvPr>
          <p:cNvSpPr txBox="1"/>
          <p:nvPr/>
        </p:nvSpPr>
        <p:spPr>
          <a:xfrm>
            <a:off x="11163858" y="13659958"/>
            <a:ext cx="10578603" cy="6847259"/>
          </a:xfrm>
          <a:prstGeom prst="rect">
            <a:avLst/>
          </a:prstGeom>
          <a:ln w="12700">
            <a:solidFill>
              <a:schemeClr val="accent4">
                <a:lumMod val="60000"/>
                <a:lumOff val="40000"/>
              </a:schemeClr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120000"/>
              </a:lnSpc>
              <a:defRPr sz="21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SG" sz="2800" b="1" i="1" dirty="0">
                <a:solidFill>
                  <a:schemeClr val="tx1"/>
                </a:solidFill>
              </a:rPr>
              <a:t>Datasets</a:t>
            </a:r>
            <a:r>
              <a:rPr lang="en-SG" sz="2800" dirty="0">
                <a:solidFill>
                  <a:schemeClr val="tx1"/>
                </a:solidFill>
              </a:rPr>
              <a:t>: </a:t>
            </a:r>
            <a:r>
              <a:rPr lang="en-SG" sz="2400" dirty="0">
                <a:solidFill>
                  <a:schemeClr val="tx1"/>
                </a:solidFill>
              </a:rPr>
              <a:t>FB15k-237, WN18RR, </a:t>
            </a:r>
            <a:r>
              <a:rPr lang="en-SG" sz="2400" dirty="0" err="1">
                <a:solidFill>
                  <a:schemeClr val="tx1"/>
                </a:solidFill>
              </a:rPr>
              <a:t>CoDEx</a:t>
            </a:r>
            <a:r>
              <a:rPr lang="en-SG" sz="2400" dirty="0">
                <a:solidFill>
                  <a:schemeClr val="tx1"/>
                </a:solidFill>
              </a:rPr>
              <a:t>-S, </a:t>
            </a:r>
            <a:r>
              <a:rPr lang="en-SG" sz="2400" dirty="0" err="1">
                <a:solidFill>
                  <a:schemeClr val="tx1"/>
                </a:solidFill>
              </a:rPr>
              <a:t>CoDEx</a:t>
            </a:r>
            <a:r>
              <a:rPr lang="en-SG" sz="2400" dirty="0">
                <a:solidFill>
                  <a:schemeClr val="tx1"/>
                </a:solidFill>
              </a:rPr>
              <a:t>-M, </a:t>
            </a:r>
            <a:r>
              <a:rPr lang="en-SG" sz="2400" dirty="0" err="1">
                <a:solidFill>
                  <a:schemeClr val="tx1"/>
                </a:solidFill>
              </a:rPr>
              <a:t>CoDEx</a:t>
            </a:r>
            <a:r>
              <a:rPr lang="en-SG" sz="2400" dirty="0">
                <a:solidFill>
                  <a:schemeClr val="tx1"/>
                </a:solidFill>
              </a:rPr>
              <a:t>-L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800" b="1" i="1" dirty="0">
                <a:solidFill>
                  <a:schemeClr val="tx1"/>
                </a:solidFill>
              </a:rPr>
              <a:t>Sensitivity to M: </a:t>
            </a:r>
            <a:r>
              <a:rPr lang="en-SG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 small K, M become stable CSG, but its impact is less pronounced than K’s. 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SG" sz="2400" b="1" i="1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SG" sz="2400" b="1" i="1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SG" sz="2400" b="1" i="1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SG" sz="2400" b="1" i="1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SG" sz="2400" b="1" i="1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SG" sz="2400" b="1" i="1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SG" sz="2400" b="1" i="1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SG" sz="2400" b="1" i="1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SG" sz="2400" b="1" i="1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SG" sz="2400" b="1" i="1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SG" sz="2400" b="1" i="1" dirty="0">
              <a:solidFill>
                <a:schemeClr val="tx1"/>
              </a:solidFill>
            </a:endParaRPr>
          </a:p>
          <a:p>
            <a:pPr algn="just"/>
            <a:endParaRPr lang="en-SG" sz="240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2E283E-C0B5-93AE-2DBD-BE5C48611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719" y="7613497"/>
            <a:ext cx="7990890" cy="33275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6927500-0A6F-C6B6-A857-FBD03A97F0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6239" y="11282458"/>
            <a:ext cx="7671369" cy="221689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51F0D84-B1AD-71AE-D20E-CDC878B4F2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8934" y="14051489"/>
            <a:ext cx="7671369" cy="2971586"/>
          </a:xfrm>
          <a:prstGeom prst="rect">
            <a:avLst/>
          </a:prstGeom>
        </p:spPr>
      </p:pic>
      <p:sp>
        <p:nvSpPr>
          <p:cNvPr id="21" name="TextBox 39">
            <a:extLst>
              <a:ext uri="{FF2B5EF4-FFF2-40B4-BE49-F238E27FC236}">
                <a16:creationId xmlns:a16="http://schemas.microsoft.com/office/drawing/2014/main" id="{0B79EB46-D9DD-7793-0787-08200A58B416}"/>
              </a:ext>
            </a:extLst>
          </p:cNvPr>
          <p:cNvSpPr txBox="1"/>
          <p:nvPr/>
        </p:nvSpPr>
        <p:spPr>
          <a:xfrm>
            <a:off x="294968" y="7167882"/>
            <a:ext cx="10578603" cy="13310567"/>
          </a:xfrm>
          <a:prstGeom prst="rect">
            <a:avLst/>
          </a:prstGeom>
          <a:ln w="12700">
            <a:solidFill>
              <a:schemeClr val="accent4">
                <a:lumMod val="60000"/>
                <a:lumOff val="40000"/>
              </a:schemeClr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120000"/>
              </a:lnSpc>
              <a:defRPr sz="21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SG" sz="2800" b="1" i="1" dirty="0">
                <a:solidFill>
                  <a:schemeClr val="tx1"/>
                </a:solidFill>
              </a:rPr>
              <a:t>Step 1) Grouping by Tail  Entities: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SG" sz="2800" b="1" i="1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SG" sz="2800" b="1" i="1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SG" sz="2800" b="1" i="1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SG" sz="2800" b="1" i="1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SG" sz="2800" b="1" i="1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SG" sz="2800" b="1" i="1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SG" sz="2800" b="1" i="1" dirty="0">
                <a:solidFill>
                  <a:schemeClr val="tx1"/>
                </a:solidFill>
              </a:rPr>
              <a:t>Step 2) Generate embeddings: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SG" sz="2400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SG" sz="2400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SG" sz="2400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SG" sz="2400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SG" sz="2400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SG" sz="2800" b="1" i="1" dirty="0">
                <a:solidFill>
                  <a:schemeClr val="tx1"/>
                </a:solidFill>
              </a:rPr>
              <a:t>Step 3) Build a similarity matrix: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SG" sz="2400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SG" sz="2400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SG" sz="2400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SG" sz="2400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SG" sz="2400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SG" sz="2400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SG" sz="2400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SG" sz="2800" b="1" i="1" dirty="0">
                <a:solidFill>
                  <a:schemeClr val="tx1"/>
                </a:solidFill>
              </a:rPr>
              <a:t>Step 4) Graph Laplacian and Spectral Analysis: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SG" sz="2400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SG" sz="2400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SG" sz="2400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SG" sz="1800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SG" sz="1800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SG" sz="1800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SG" sz="2400" dirty="0">
              <a:solidFill>
                <a:schemeClr val="tx1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6B860FB-C0F7-9A31-031D-DC9290DDF2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2224" y="17575211"/>
            <a:ext cx="6024788" cy="277795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D867E82-FB7B-4801-A506-4DA8DC6650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8979" y="2511018"/>
            <a:ext cx="9315174" cy="3875503"/>
          </a:xfrm>
          <a:prstGeom prst="rect">
            <a:avLst/>
          </a:prstGeom>
        </p:spPr>
      </p:pic>
      <p:pic>
        <p:nvPicPr>
          <p:cNvPr id="37" name="Picture 36" descr="A diagram of a diagram&#10;&#10;Description automatically generated">
            <a:extLst>
              <a:ext uri="{FF2B5EF4-FFF2-40B4-BE49-F238E27FC236}">
                <a16:creationId xmlns:a16="http://schemas.microsoft.com/office/drawing/2014/main" id="{1327183D-064F-2F08-3FBE-58FCCAC46D0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2397" y="7046982"/>
            <a:ext cx="10314420" cy="4914900"/>
          </a:xfrm>
          <a:prstGeom prst="rect">
            <a:avLst/>
          </a:prstGeom>
          <a:ln>
            <a:noFill/>
          </a:ln>
        </p:spPr>
      </p:pic>
      <p:sp>
        <p:nvSpPr>
          <p:cNvPr id="38" name="TextBox 43">
            <a:extLst>
              <a:ext uri="{FF2B5EF4-FFF2-40B4-BE49-F238E27FC236}">
                <a16:creationId xmlns:a16="http://schemas.microsoft.com/office/drawing/2014/main" id="{E5EAC9FD-8B17-8430-D6F4-2ADC85F53950}"/>
              </a:ext>
            </a:extLst>
          </p:cNvPr>
          <p:cNvSpPr txBox="1"/>
          <p:nvPr/>
        </p:nvSpPr>
        <p:spPr>
          <a:xfrm>
            <a:off x="11163857" y="12883800"/>
            <a:ext cx="10555625" cy="61555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lang="en-US" b="1" dirty="0"/>
              <a:t>Results </a:t>
            </a:r>
            <a:endParaRPr b="1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CDB3D09A-7B00-6EC4-2365-896C40B7871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487121" y="14708624"/>
            <a:ext cx="6984660" cy="5166907"/>
          </a:xfrm>
          <a:prstGeom prst="rect">
            <a:avLst/>
          </a:prstGeom>
          <a:ln>
            <a:noFill/>
          </a:ln>
        </p:spPr>
      </p:pic>
      <p:sp>
        <p:nvSpPr>
          <p:cNvPr id="41" name="TextBox 39">
            <a:extLst>
              <a:ext uri="{FF2B5EF4-FFF2-40B4-BE49-F238E27FC236}">
                <a16:creationId xmlns:a16="http://schemas.microsoft.com/office/drawing/2014/main" id="{14CDF720-2AAA-9E9F-3217-7D9CF733698E}"/>
              </a:ext>
            </a:extLst>
          </p:cNvPr>
          <p:cNvSpPr txBox="1"/>
          <p:nvPr/>
        </p:nvSpPr>
        <p:spPr>
          <a:xfrm>
            <a:off x="21985835" y="1859501"/>
            <a:ext cx="10578603" cy="13864565"/>
          </a:xfrm>
          <a:prstGeom prst="rect">
            <a:avLst/>
          </a:prstGeom>
          <a:ln w="12700">
            <a:solidFill>
              <a:schemeClr val="accent4">
                <a:lumMod val="60000"/>
                <a:lumOff val="40000"/>
              </a:schemeClr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120000"/>
              </a:lnSpc>
              <a:defRPr sz="21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SG" sz="2800" b="1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Role of K</a:t>
            </a:r>
            <a:r>
              <a:rPr lang="en-SG" sz="2000" b="1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2400" dirty="0">
                <a:solidFill>
                  <a:schemeClr val="tx1"/>
                </a:solidFill>
              </a:rPr>
              <a:t>CSG is deeply sensitive to K.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SG" sz="2400" b="1" i="1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US" sz="2800" b="1" i="1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US" sz="2800" b="1" i="1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US" sz="2800" b="1" i="1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US" sz="2800" b="1" i="1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US" sz="2800" b="1" i="1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US" sz="2800" b="1" i="1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US" sz="2800" b="1" i="1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US" sz="2800" b="1" i="1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US" sz="2800" b="1" i="1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US" sz="2800" b="1" i="1" dirty="0">
              <a:solidFill>
                <a:schemeClr val="tx1"/>
              </a:solidFill>
            </a:endParaRPr>
          </a:p>
          <a:p>
            <a:pPr algn="just"/>
            <a:endParaRPr lang="en-US" sz="2800" b="1" i="1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800" b="1" i="1" dirty="0">
                <a:solidFill>
                  <a:schemeClr val="tx1"/>
                </a:solidFill>
              </a:rPr>
              <a:t>Weak MRR Correlation: </a:t>
            </a:r>
            <a:r>
              <a:rPr lang="en-US" sz="2400" dirty="0">
                <a:solidFill>
                  <a:schemeClr val="tx1"/>
                </a:solidFill>
              </a:rPr>
              <a:t>CSG does not show much strong correlation with </a:t>
            </a:r>
            <a:r>
              <a:rPr lang="en-US" sz="2400" b="1" i="1" dirty="0">
                <a:solidFill>
                  <a:schemeClr val="tx1"/>
                </a:solidFill>
              </a:rPr>
              <a:t>MRR</a:t>
            </a:r>
            <a:r>
              <a:rPr lang="en-US" sz="2400" dirty="0">
                <a:solidFill>
                  <a:schemeClr val="tx1"/>
                </a:solidFill>
              </a:rPr>
              <a:t> (</a:t>
            </a:r>
            <a:r>
              <a:rPr lang="en-US" sz="2400" b="1" i="1" dirty="0">
                <a:solidFill>
                  <a:schemeClr val="tx1"/>
                </a:solidFill>
              </a:rPr>
              <a:t>R = −0.64</a:t>
            </a:r>
            <a:r>
              <a:rPr lang="en-US" sz="2400" dirty="0">
                <a:solidFill>
                  <a:schemeClr val="tx1"/>
                </a:solidFill>
              </a:rPr>
              <a:t>).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tx1"/>
              </a:solidFill>
            </a:endParaRPr>
          </a:p>
          <a:p>
            <a:pPr algn="just"/>
            <a:endParaRPr lang="en-SG" sz="2400" b="1" i="1" dirty="0">
              <a:solidFill>
                <a:schemeClr val="tx1"/>
              </a:solidFill>
            </a:endParaRPr>
          </a:p>
          <a:p>
            <a:pPr algn="just"/>
            <a:endParaRPr lang="en-SG" sz="2400" b="1" i="1" dirty="0">
              <a:solidFill>
                <a:schemeClr val="tx1"/>
              </a:solidFill>
            </a:endParaRPr>
          </a:p>
          <a:p>
            <a:pPr algn="just"/>
            <a:endParaRPr lang="en-SG" sz="2400" b="1" i="1" dirty="0">
              <a:solidFill>
                <a:schemeClr val="tx1"/>
              </a:solidFill>
            </a:endParaRPr>
          </a:p>
          <a:p>
            <a:pPr algn="just"/>
            <a:endParaRPr lang="en-SG" sz="2400" b="1" i="1" dirty="0">
              <a:solidFill>
                <a:schemeClr val="tx1"/>
              </a:solidFill>
            </a:endParaRPr>
          </a:p>
          <a:p>
            <a:pPr algn="just"/>
            <a:endParaRPr lang="en-SG" sz="2400" b="1" i="1" dirty="0">
              <a:solidFill>
                <a:schemeClr val="tx1"/>
              </a:solidFill>
            </a:endParaRPr>
          </a:p>
          <a:p>
            <a:pPr algn="just"/>
            <a:endParaRPr lang="en-SG" sz="2400" b="1" i="1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SG" sz="2400" b="1" i="1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SG" sz="2400" b="1" i="1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SG" sz="2400" b="1" i="1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endParaRPr lang="en-SG" sz="2400" b="1" i="1" dirty="0">
              <a:solidFill>
                <a:schemeClr val="tx1"/>
              </a:solidFill>
            </a:endParaRPr>
          </a:p>
        </p:txBody>
      </p:sp>
      <p:sp>
        <p:nvSpPr>
          <p:cNvPr id="46" name="TextBox 39">
            <a:extLst>
              <a:ext uri="{FF2B5EF4-FFF2-40B4-BE49-F238E27FC236}">
                <a16:creationId xmlns:a16="http://schemas.microsoft.com/office/drawing/2014/main" id="{BA6F6CC6-4275-245D-4C15-0517F31955A7}"/>
              </a:ext>
            </a:extLst>
          </p:cNvPr>
          <p:cNvSpPr txBox="1"/>
          <p:nvPr/>
        </p:nvSpPr>
        <p:spPr>
          <a:xfrm>
            <a:off x="13538711" y="11863220"/>
            <a:ext cx="7051962" cy="561885"/>
          </a:xfrm>
          <a:prstGeom prst="rect">
            <a:avLst/>
          </a:prstGeom>
          <a:noFill/>
          <a:ln w="12700">
            <a:noFill/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120000"/>
              </a:lnSpc>
              <a:defRPr sz="21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just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</a:t>
            </a:r>
            <a:r>
              <a:rPr lang="en-SG" sz="2400" b="1" i="1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igure 1</a:t>
            </a:r>
            <a:r>
              <a:rPr lang="en-SG" sz="2800" b="1" i="1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en-SG" sz="1800" b="1" i="1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Proposed KG-CSG Methodology  </a:t>
            </a:r>
            <a:endParaRPr lang="en-SG" sz="1800" b="1" i="1" dirty="0"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47" name="TextBox 39">
            <a:extLst>
              <a:ext uri="{FF2B5EF4-FFF2-40B4-BE49-F238E27FC236}">
                <a16:creationId xmlns:a16="http://schemas.microsoft.com/office/drawing/2014/main" id="{DFF580D1-FC74-C989-3521-B81BC89BC0B1}"/>
              </a:ext>
            </a:extLst>
          </p:cNvPr>
          <p:cNvSpPr txBox="1"/>
          <p:nvPr/>
        </p:nvSpPr>
        <p:spPr>
          <a:xfrm>
            <a:off x="15343642" y="19725601"/>
            <a:ext cx="5663504" cy="561885"/>
          </a:xfrm>
          <a:prstGeom prst="rect">
            <a:avLst/>
          </a:prstGeom>
          <a:noFill/>
          <a:ln w="12700">
            <a:noFill/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120000"/>
              </a:lnSpc>
              <a:defRPr sz="21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just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</a:t>
            </a:r>
            <a:r>
              <a:rPr lang="en-SG" sz="2400" b="1" i="1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igure 2</a:t>
            </a:r>
            <a:r>
              <a:rPr lang="en-SG" sz="2800" b="1" i="1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en-SG" sz="1800" b="1" i="1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CSG as a function of M and K values</a:t>
            </a:r>
            <a:r>
              <a:rPr lang="en-SG" sz="18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endParaRPr lang="en-SG" sz="1800" dirty="0"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6C00AA11-26C1-DC16-7148-4D3839883F4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592990" y="2834648"/>
            <a:ext cx="9262533" cy="5027502"/>
          </a:xfrm>
          <a:prstGeom prst="rect">
            <a:avLst/>
          </a:prstGeom>
          <a:ln>
            <a:noFill/>
          </a:ln>
        </p:spPr>
      </p:pic>
      <p:sp>
        <p:nvSpPr>
          <p:cNvPr id="50" name="TextBox 39">
            <a:extLst>
              <a:ext uri="{FF2B5EF4-FFF2-40B4-BE49-F238E27FC236}">
                <a16:creationId xmlns:a16="http://schemas.microsoft.com/office/drawing/2014/main" id="{EE8EAF7C-B992-BB71-9EF7-6A6809A157B5}"/>
              </a:ext>
            </a:extLst>
          </p:cNvPr>
          <p:cNvSpPr txBox="1"/>
          <p:nvPr/>
        </p:nvSpPr>
        <p:spPr>
          <a:xfrm>
            <a:off x="25029183" y="7767338"/>
            <a:ext cx="6354770" cy="561885"/>
          </a:xfrm>
          <a:prstGeom prst="rect">
            <a:avLst/>
          </a:prstGeom>
          <a:noFill/>
          <a:ln w="12700">
            <a:noFill/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120000"/>
              </a:lnSpc>
              <a:defRPr sz="21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just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</a:t>
            </a:r>
            <a:r>
              <a:rPr lang="en-SG" sz="2400" b="1" i="1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igure 3</a:t>
            </a:r>
            <a:r>
              <a:rPr lang="en-SG" sz="2800" b="1" i="1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en-SG" sz="1800" b="1" i="1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CSG as a function of K values at M = 100</a:t>
            </a:r>
            <a:r>
              <a:rPr lang="en-SG" sz="18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n-SG" sz="1800" dirty="0"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D4936897-58AA-DCB3-3650-2885F2D5D2F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965525" y="9504432"/>
            <a:ext cx="9374139" cy="5597917"/>
          </a:xfrm>
          <a:prstGeom prst="rect">
            <a:avLst/>
          </a:prstGeom>
          <a:ln>
            <a:noFill/>
          </a:ln>
        </p:spPr>
      </p:pic>
      <p:sp>
        <p:nvSpPr>
          <p:cNvPr id="55" name="TextBox 39">
            <a:extLst>
              <a:ext uri="{FF2B5EF4-FFF2-40B4-BE49-F238E27FC236}">
                <a16:creationId xmlns:a16="http://schemas.microsoft.com/office/drawing/2014/main" id="{39374EDF-6A1B-990B-28DE-7C6927D70BF0}"/>
              </a:ext>
            </a:extLst>
          </p:cNvPr>
          <p:cNvSpPr txBox="1"/>
          <p:nvPr/>
        </p:nvSpPr>
        <p:spPr>
          <a:xfrm>
            <a:off x="25029183" y="15054298"/>
            <a:ext cx="6354770" cy="561885"/>
          </a:xfrm>
          <a:prstGeom prst="rect">
            <a:avLst/>
          </a:prstGeom>
          <a:noFill/>
          <a:ln w="12700">
            <a:noFill/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120000"/>
              </a:lnSpc>
              <a:defRPr sz="2100">
                <a:solidFill>
                  <a:srgbClr val="3448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just"/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</a:t>
            </a:r>
            <a:r>
              <a:rPr lang="en-SG" sz="2400" b="1" i="1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igure 4</a:t>
            </a:r>
            <a:r>
              <a:rPr lang="en-SG" sz="2800" b="1" i="1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en-SG" sz="1800" b="1" i="1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Relation between CSG and MRR. </a:t>
            </a:r>
            <a:r>
              <a:rPr lang="en-SG" sz="18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n-SG" sz="1800" dirty="0"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867781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3265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3265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3265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3265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2451</TotalTime>
  <Words>337</Words>
  <Application>Microsoft Office PowerPoint</Application>
  <PresentationFormat>Custom</PresentationFormat>
  <Paragraphs>111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Haji Gul</cp:lastModifiedBy>
  <cp:revision>36</cp:revision>
  <dcterms:modified xsi:type="dcterms:W3CDTF">2025-07-08T09:40:27Z</dcterms:modified>
</cp:coreProperties>
</file>